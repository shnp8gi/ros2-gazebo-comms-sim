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80000"/>
            <a:ext cx="11520000" cy="360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図A　問題設定：排他接続と、観測できないペア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3744000"/>
            <a:ext cx="11016000" cy="93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4716000"/>
            <a:ext cx="11016000" cy="216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Times New Roman"/>
                <a:ea typeface="MS Mincho"/>
                <a:cs typeface="MS Mincho"/>
              </a:rPr>
              <a:t>走行方向 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20000" y="1224000"/>
            <a:ext cx="1296000" cy="503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RSU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20000" y="1224000"/>
            <a:ext cx="1296000" cy="503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RSU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0000" y="1224000"/>
            <a:ext cx="1296000" cy="503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RSU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0000" y="3960000"/>
            <a:ext cx="1296000" cy="503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車両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40000" y="3960000"/>
            <a:ext cx="1296000" cy="503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車両 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960000"/>
            <a:ext cx="1296000" cy="503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車両 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20000" y="3960000"/>
            <a:ext cx="1296000" cy="503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車両 D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728000" y="1727999"/>
            <a:ext cx="540000" cy="2232001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68000" y="1727999"/>
            <a:ext cx="1980000" cy="2232001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268000" y="1727999"/>
            <a:ext cx="2520000" cy="2232001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788000" y="1727999"/>
            <a:ext cx="1080000" cy="2232001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848000" y="1727999"/>
            <a:ext cx="1620000" cy="2232001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68000" y="1727999"/>
            <a:ext cx="900000" cy="2232001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868000" y="1727999"/>
            <a:ext cx="4500000" cy="2232001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6000" y="5292000"/>
            <a:ext cx="57600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224000" y="5184000"/>
            <a:ext cx="4680000" cy="216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接続中のペア：受信電力を継続して測れる（1 RSU につき 1 台のみ）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000" y="5616000"/>
            <a:ext cx="576000" cy="0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24000" y="5508000"/>
            <a:ext cx="5760000" cy="216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未接続のペア：割当の判断に足る受信電力を測れない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20000" y="5148000"/>
            <a:ext cx="4572000" cy="93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5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どの車両にどの RSU をいつ与えるかを決めるには、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測っていない相手の電波状況を何らかの方法で補う必要がある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" y="6408000"/>
            <a:ext cx="11520000" cy="324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/>
            <a:r>
              <a:rPr sz="950" b="0">
                <a:solidFill>
                  <a:srgbClr val="808080"/>
                </a:solidFill>
                <a:latin typeface="Times New Roman"/>
                <a:ea typeface="MS Mincho"/>
                <a:cs typeface="MS Mincho"/>
              </a:rPr>
              <a:t>802.15.3e のペアネット方式。規格の受動アソシエーションで分かるのは「つなげる見込みがあるか」の粗い判定にとどまる。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80000"/>
            <a:ext cx="11520000" cy="360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図B　シミュレーションの配置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00" y="558000"/>
            <a:ext cx="1512000" cy="198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(a) 上面図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0000" y="1530000"/>
            <a:ext cx="9504000" cy="413999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1080000" y="1944000"/>
            <a:ext cx="9504000" cy="413999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1530000"/>
            <a:ext cx="900000" cy="413999"/>
          </a:xfrm>
          <a:prstGeom prst="rect">
            <a:avLst/>
          </a:prstGeom>
          <a:noFill/>
        </p:spPr>
        <p:txBody>
          <a:bodyPr wrap="none" lIns="10800" rIns="10800" tIns="0" bIns="0" anchor="ctr">
            <a:spAutoFit/>
          </a:bodyPr>
          <a:lstStyle/>
          <a:p>
            <a:pPr algn="r"/>
            <ns12:m xmlns:ns12="http://schemas.microsoft.com/office/drawing/2010/main">
              <ns13:oMath xmlns:ns13="http://schemas.openxmlformats.org/officeDocument/2006/math">
                <ns13:r>
                  <ns13:rPr/>
                  <a:rPr>
                    <a:latin typeface="Times New Roman"/>
                    <a:ea typeface="MS Mincho"/>
                  </a:rPr>
                  <ns13:t>y</ns13:t>
                </ns13:r>
                <ns13:r>
                  <ns13:rPr>
                    <ns13:nor/>
                  </ns13:rPr>
                  <a:rPr>
                    <a:latin typeface="Times New Roman"/>
                    <a:ea typeface="MS Mincho"/>
                  </a:rPr>
                  <ns13:t> = +1.75 </ns13:t>
                </ns13:r>
                <ns13:r>
                  <ns13:rPr/>
                  <a:rPr>
                    <a:latin typeface="Times New Roman"/>
                    <a:ea typeface="MS Mincho"/>
                  </a:rPr>
                  <ns13:t>m</ns13:t>
                </ns13:r>
              </ns13:oMath>
            </ns12:m>
          </a:p>
        </p:txBody>
      </p:sp>
      <p:sp>
        <p:nvSpPr>
          <p:cNvPr id="7" name="TextBox 6"/>
          <p:cNvSpPr txBox="1"/>
          <p:nvPr/>
        </p:nvSpPr>
        <p:spPr>
          <a:xfrm>
            <a:off x="144000" y="1944000"/>
            <a:ext cx="900000" cy="413999"/>
          </a:xfrm>
          <a:prstGeom prst="rect">
            <a:avLst/>
          </a:prstGeom>
          <a:noFill/>
        </p:spPr>
        <p:txBody>
          <a:bodyPr wrap="none" lIns="10800" rIns="10800" tIns="0" bIns="0" anchor="ctr">
            <a:spAutoFit/>
          </a:bodyPr>
          <a:lstStyle/>
          <a:p>
            <a:pPr algn="r"/>
            <ns20:m xmlns:ns20="http://schemas.microsoft.com/office/drawing/2010/main">
              <ns21:oMath xmlns:ns21="http://schemas.openxmlformats.org/officeDocument/2006/math">
                <ns21:r>
                  <ns21:rPr/>
                  <a:rPr>
                    <a:latin typeface="Times New Roman"/>
                    <a:ea typeface="MS Mincho"/>
                  </a:rPr>
                  <ns21:t>y</ns21:t>
                </ns21:r>
                <ns21:r>
                  <ns21:rPr>
                    <ns21:nor/>
                  </ns21:rPr>
                  <a:rPr>
                    <a:latin typeface="Times New Roman"/>
                    <a:ea typeface="MS Mincho"/>
                  </a:rPr>
                  <ns21:t> = −1.75 </ns21:t>
                </ns21:r>
                <ns21:r>
                  <ns21:rPr/>
                  <a:rPr>
                    <a:latin typeface="Times New Roman"/>
                    <a:ea typeface="MS Mincho"/>
                  </a:rPr>
                  <ns21:t>m</ns21:t>
                </ns21:r>
              </ns21:oMath>
            </ns20:m>
          </a:p>
        </p:txBody>
      </p:sp>
      <p:sp>
        <p:nvSpPr>
          <p:cNvPr id="8" name="Oval 7"/>
          <p:cNvSpPr/>
          <p:nvPr/>
        </p:nvSpPr>
        <p:spPr>
          <a:xfrm>
            <a:off x="2142001" y="954000"/>
            <a:ext cx="251999" cy="2519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4001" y="730800"/>
            <a:ext cx="1007999" cy="180000"/>
          </a:xfrm>
          <a:prstGeom prst="rect">
            <a:avLst/>
          </a:prstGeom>
          <a:noFill/>
        </p:spPr>
        <p:txBody>
          <a:bodyPr wrap="none" lIns="10800" rIns="10800" tIns="0" bIns="0" anchor="ctr">
            <a:spAutoFit/>
          </a:bodyPr>
          <a:lstStyle/>
          <a:p>
            <a:pPr algn="ctr"/>
            <ns31:m xmlns:ns31="http://schemas.microsoft.com/office/drawing/2010/main">
              <ns32:oMath xmlns:ns32="http://schemas.openxmlformats.org/officeDocument/2006/math">
                <ns32:r>
                  <ns32:rPr/>
                  <a:rPr>
                    <a:latin typeface="Times New Roman"/>
                    <a:ea typeface="MS Mincho"/>
                  </a:rPr>
                  <ns32:t>x</ns32:t>
                </ns32:r>
                <ns32:r>
                  <ns32:rPr>
                    <ns32:nor/>
                  </ns32:rPr>
                  <a:rPr>
                    <a:latin typeface="Times New Roman"/>
                    <a:ea typeface="MS Mincho"/>
                  </a:rPr>
                  <ns32:t> = -30 </ns32:t>
                </ns32:r>
                <ns32:r>
                  <ns32:rPr/>
                  <a:rPr>
                    <a:latin typeface="Times New Roman"/>
                    <a:ea typeface="MS Mincho"/>
                  </a:rPr>
                  <ns32:t>m</ns32:t>
                </ns32:r>
              </ns32:oMath>
            </ns31:m>
          </a:p>
        </p:txBody>
      </p:sp>
      <p:cxnSp>
        <p:nvCxnSpPr>
          <p:cNvPr id="10" name="Connector 9"/>
          <p:cNvCxnSpPr/>
          <p:nvPr/>
        </p:nvCxnSpPr>
        <p:spPr>
          <a:xfrm flipH="1">
            <a:off x="1836000" y="1205999"/>
            <a:ext cx="432000" cy="324001"/>
          </a:xfrm>
          <a:prstGeom prst="line">
            <a:avLst/>
          </a:prstGeom>
          <a:ln w="12700">
            <a:solidFill>
              <a:srgbClr val="0000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268000" y="1205999"/>
            <a:ext cx="432000" cy="324001"/>
          </a:xfrm>
          <a:prstGeom prst="line">
            <a:avLst/>
          </a:prstGeom>
          <a:ln w="12700">
            <a:solidFill>
              <a:srgbClr val="0000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518001" y="954000"/>
            <a:ext cx="251999" cy="2519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0001" y="730800"/>
            <a:ext cx="1007999" cy="180000"/>
          </a:xfrm>
          <a:prstGeom prst="rect">
            <a:avLst/>
          </a:prstGeom>
          <a:noFill/>
        </p:spPr>
        <p:txBody>
          <a:bodyPr wrap="none" lIns="10800" rIns="10800" tIns="0" bIns="0" anchor="ctr">
            <a:spAutoFit/>
          </a:bodyPr>
          <a:lstStyle/>
          <a:p>
            <a:pPr algn="ctr"/>
            <ns44:m xmlns:ns44="http://schemas.microsoft.com/office/drawing/2010/main">
              <ns45:oMath xmlns:ns45="http://schemas.openxmlformats.org/officeDocument/2006/math">
                <ns45:r>
                  <ns45:rPr/>
                  <a:rPr>
                    <a:latin typeface="Times New Roman"/>
                    <a:ea typeface="MS Mincho"/>
                  </a:rPr>
                  <ns45:t>x</ns45:t>
                </ns45:r>
                <ns45:r>
                  <ns45:rPr>
                    <ns45:nor/>
                  </ns45:rPr>
                  <a:rPr>
                    <a:latin typeface="Times New Roman"/>
                    <a:ea typeface="MS Mincho"/>
                  </a:rPr>
                  <ns45:t> = -10 </ns45:t>
                </ns45:r>
                <ns45:r>
                  <ns45:rPr/>
                  <a:rPr>
                    <a:latin typeface="Times New Roman"/>
                    <a:ea typeface="MS Mincho"/>
                  </a:rPr>
                  <ns45:t>m</ns45:t>
                </ns45:r>
              </ns45:oMath>
            </ns44:m>
          </a:p>
        </p:txBody>
      </p:sp>
      <p:cxnSp>
        <p:nvCxnSpPr>
          <p:cNvPr id="14" name="Connector 13"/>
          <p:cNvCxnSpPr/>
          <p:nvPr/>
        </p:nvCxnSpPr>
        <p:spPr>
          <a:xfrm flipH="1">
            <a:off x="4212000" y="1205999"/>
            <a:ext cx="432000" cy="324001"/>
          </a:xfrm>
          <a:prstGeom prst="line">
            <a:avLst/>
          </a:prstGeom>
          <a:ln w="12700">
            <a:solidFill>
              <a:srgbClr val="0000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44000" y="1205999"/>
            <a:ext cx="432000" cy="324001"/>
          </a:xfrm>
          <a:prstGeom prst="line">
            <a:avLst/>
          </a:prstGeom>
          <a:ln w="12700">
            <a:solidFill>
              <a:srgbClr val="0000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894001" y="954000"/>
            <a:ext cx="251999" cy="2519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6001" y="730800"/>
            <a:ext cx="1007999" cy="180000"/>
          </a:xfrm>
          <a:prstGeom prst="rect">
            <a:avLst/>
          </a:prstGeom>
          <a:noFill/>
        </p:spPr>
        <p:txBody>
          <a:bodyPr wrap="none" lIns="10800" rIns="10800" tIns="0" bIns="0" anchor="ctr">
            <a:spAutoFit/>
          </a:bodyPr>
          <a:lstStyle/>
          <a:p>
            <a:pPr algn="ctr"/>
            <ns57:m xmlns:ns57="http://schemas.microsoft.com/office/drawing/2010/main">
              <ns58:oMath xmlns:ns58="http://schemas.openxmlformats.org/officeDocument/2006/math">
                <ns58:r>
                  <ns58:rPr/>
                  <a:rPr>
                    <a:latin typeface="Times New Roman"/>
                    <a:ea typeface="MS Mincho"/>
                  </a:rPr>
                  <ns58:t>x</ns58:t>
                </ns58:r>
                <ns58:r>
                  <ns58:rPr>
                    <ns58:nor/>
                  </ns58:rPr>
                  <a:rPr>
                    <a:latin typeface="Times New Roman"/>
                    <a:ea typeface="MS Mincho"/>
                  </a:rPr>
                  <ns58:t> = 10 </ns58:t>
                </ns58:r>
                <ns58:r>
                  <ns58:rPr/>
                  <a:rPr>
                    <a:latin typeface="Times New Roman"/>
                    <a:ea typeface="MS Mincho"/>
                  </a:rPr>
                  <ns58:t>m</ns58:t>
                </ns58:r>
              </ns58:oMath>
            </ns57:m>
          </a:p>
        </p:txBody>
      </p:sp>
      <p:cxnSp>
        <p:nvCxnSpPr>
          <p:cNvPr id="18" name="Connector 17"/>
          <p:cNvCxnSpPr/>
          <p:nvPr/>
        </p:nvCxnSpPr>
        <p:spPr>
          <a:xfrm flipH="1">
            <a:off x="6588000" y="1205999"/>
            <a:ext cx="432000" cy="324001"/>
          </a:xfrm>
          <a:prstGeom prst="line">
            <a:avLst/>
          </a:prstGeom>
          <a:ln w="12700">
            <a:solidFill>
              <a:srgbClr val="0000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20000" y="1205999"/>
            <a:ext cx="432000" cy="324001"/>
          </a:xfrm>
          <a:prstGeom prst="line">
            <a:avLst/>
          </a:prstGeom>
          <a:ln w="12700">
            <a:solidFill>
              <a:srgbClr val="0000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270001" y="954000"/>
            <a:ext cx="251999" cy="2519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2001" y="730800"/>
            <a:ext cx="1007999" cy="180000"/>
          </a:xfrm>
          <a:prstGeom prst="rect">
            <a:avLst/>
          </a:prstGeom>
          <a:noFill/>
        </p:spPr>
        <p:txBody>
          <a:bodyPr wrap="none" lIns="10800" rIns="10800" tIns="0" bIns="0" anchor="ctr">
            <a:spAutoFit/>
          </a:bodyPr>
          <a:lstStyle/>
          <a:p>
            <a:pPr algn="ctr"/>
            <ns70:m xmlns:ns70="http://schemas.microsoft.com/office/drawing/2010/main">
              <ns71:oMath xmlns:ns71="http://schemas.openxmlformats.org/officeDocument/2006/math">
                <ns71:r>
                  <ns71:rPr/>
                  <a:rPr>
                    <a:latin typeface="Times New Roman"/>
                    <a:ea typeface="MS Mincho"/>
                  </a:rPr>
                  <ns71:t>x</ns71:t>
                </ns71:r>
                <ns71:r>
                  <ns71:rPr>
                    <ns71:nor/>
                  </ns71:rPr>
                  <a:rPr>
                    <a:latin typeface="Times New Roman"/>
                    <a:ea typeface="MS Mincho"/>
                  </a:rPr>
                  <ns71:t> = 30 </ns71:t>
                </ns71:r>
                <ns71:r>
                  <ns71:rPr/>
                  <a:rPr>
                    <a:latin typeface="Times New Roman"/>
                    <a:ea typeface="MS Mincho"/>
                  </a:rPr>
                  <ns71:t>m</ns71:t>
                </ns71:r>
              </ns71:oMath>
            </ns70:m>
          </a:p>
        </p:txBody>
      </p:sp>
      <p:cxnSp>
        <p:nvCxnSpPr>
          <p:cNvPr id="22" name="Connector 21"/>
          <p:cNvCxnSpPr/>
          <p:nvPr/>
        </p:nvCxnSpPr>
        <p:spPr>
          <a:xfrm flipH="1">
            <a:off x="8964000" y="1205999"/>
            <a:ext cx="432000" cy="324001"/>
          </a:xfrm>
          <a:prstGeom prst="line">
            <a:avLst/>
          </a:prstGeom>
          <a:ln w="12700">
            <a:solidFill>
              <a:srgbClr val="0000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396000" y="1205999"/>
            <a:ext cx="432000" cy="324001"/>
          </a:xfrm>
          <a:prstGeom prst="line">
            <a:avLst/>
          </a:prstGeom>
          <a:ln w="12700">
            <a:solidFill>
              <a:srgbClr val="0000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4000" y="954000"/>
            <a:ext cx="900000" cy="251999"/>
          </a:xfrm>
          <a:prstGeom prst="rect">
            <a:avLst/>
          </a:prstGeom>
          <a:noFill/>
        </p:spPr>
        <p:txBody>
          <a:bodyPr wrap="none" lIns="10800" rIns="10800" tIns="0" bIns="0" anchor="ctr">
            <a:spAutoFit/>
          </a:bodyPr>
          <a:lstStyle/>
          <a:p>
            <a:pPr algn="r"/>
            <ns80:m xmlns:ns80="http://schemas.microsoft.com/office/drawing/2010/main">
              <ns81:oMath xmlns:ns81="http://schemas.openxmlformats.org/officeDocument/2006/math">
                <ns81:r>
                  <ns81:rPr/>
                  <a:rPr>
                    <a:latin typeface="Times New Roman"/>
                    <a:ea typeface="MS Mincho"/>
                  </a:rPr>
                  <ns81:t>y</ns81:t>
                </ns81:r>
                <ns81:r>
                  <ns81:rPr>
                    <ns81:nor/>
                  </ns81:rPr>
                  <a:rPr>
                    <a:latin typeface="Times New Roman"/>
                    <a:ea typeface="MS Mincho"/>
                  </a:rPr>
                  <ns81:t> = 6.0 </ns81:t>
                </ns81:r>
                <ns81:r>
                  <ns81:rPr/>
                  <a:rPr>
                    <a:latin typeface="Times New Roman"/>
                    <a:ea typeface="MS Mincho"/>
                  </a:rPr>
                  <ns81:t>m</ns81:t>
                </ns81:r>
              </ns81:oMath>
            </ns80:m>
          </a:p>
        </p:txBody>
      </p:sp>
      <p:sp>
        <p:nvSpPr>
          <p:cNvPr id="25" name="Rectangle 24"/>
          <p:cNvSpPr/>
          <p:nvPr/>
        </p:nvSpPr>
        <p:spPr>
          <a:xfrm>
            <a:off x="4402800" y="1321200"/>
            <a:ext cx="720000" cy="162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2800" y="2394000"/>
            <a:ext cx="1440000" cy="180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路上駐車 3.2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762800" y="1483200"/>
            <a:ext cx="0" cy="910800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303600" y="1321200"/>
            <a:ext cx="720000" cy="1620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394000"/>
            <a:ext cx="1440000" cy="180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路上駐車 2.4 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63600" y="1483200"/>
            <a:ext cx="0" cy="910800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540801" y="1584000"/>
            <a:ext cx="503999" cy="30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2966401" y="1584000"/>
            <a:ext cx="503999" cy="30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3916801" y="1584000"/>
            <a:ext cx="503999" cy="30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5342401" y="1584000"/>
            <a:ext cx="503999" cy="30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292801" y="1584000"/>
            <a:ext cx="503999" cy="30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7718401" y="1584000"/>
            <a:ext cx="503999" cy="30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8668801" y="1584000"/>
            <a:ext cx="503999" cy="30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9619201" y="1584000"/>
            <a:ext cx="503999" cy="30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2016001" y="1998000"/>
            <a:ext cx="503999" cy="30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3441601" y="1998000"/>
            <a:ext cx="503999" cy="30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4867201" y="1998000"/>
            <a:ext cx="503999" cy="30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6768001" y="1998000"/>
            <a:ext cx="503999" cy="30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8193601" y="1998000"/>
            <a:ext cx="503999" cy="30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9381601" y="1998000"/>
            <a:ext cx="503999" cy="30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0000" y="2429999"/>
            <a:ext cx="3240000" cy="216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ポール 4 本 × 上流/下流 2 面 = 論理 RSU 8 基（間隔 20 m）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000" y="3096000"/>
            <a:ext cx="3600000" cy="216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(b) 断面図（高さ関係）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98000" y="5760000"/>
            <a:ext cx="64620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98000" y="5814000"/>
            <a:ext cx="864000" cy="180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Times New Roman"/>
                <a:ea typeface="MS Mincho"/>
                <a:cs typeface="MS Mincho"/>
              </a:rPr>
              <a:t>地面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098000" y="5238000"/>
            <a:ext cx="90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58000" y="5137200"/>
            <a:ext cx="486000" cy="201600"/>
          </a:xfrm>
          <a:prstGeom prst="rect">
            <a:avLst/>
          </a:prstGeom>
          <a:noFill/>
        </p:spPr>
        <p:txBody>
          <a:bodyPr wrap="none" lIns="10800" rIns="10800" tIns="0" bIns="0" anchor="ctr">
            <a:spAutoFit/>
          </a:bodyPr>
          <a:lstStyle/>
          <a:p>
            <a:pPr algn="r"/>
            <ns151:m xmlns:ns151="http://schemas.microsoft.com/office/drawing/2010/main">
              <ns152:oMath xmlns:ns152="http://schemas.openxmlformats.org/officeDocument/2006/math">
                <ns152:r>
                  <ns152:rPr>
                    <ns152:nor/>
                  </ns152:rPr>
                  <a:rPr>
                    <a:latin typeface="Times New Roman"/>
                    <a:ea typeface="MS Mincho"/>
                  </a:rPr>
                  <ns152:t>1 </ns152:t>
                </ns152:r>
                <ns152:r>
                  <ns152:rPr/>
                  <a:rPr>
                    <a:latin typeface="Times New Roman"/>
                    <a:ea typeface="MS Mincho"/>
                  </a:rPr>
                  <ns152:t>m</ns152:t>
                </ns152:r>
              </ns152:oMath>
            </ns151:m>
          </a:p>
        </p:txBody>
      </p:sp>
      <p:cxnSp>
        <p:nvCxnSpPr>
          <p:cNvPr id="51" name="Connector 50"/>
          <p:cNvCxnSpPr/>
          <p:nvPr/>
        </p:nvCxnSpPr>
        <p:spPr>
          <a:xfrm>
            <a:off x="1098000" y="4716000"/>
            <a:ext cx="90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58000" y="4615200"/>
            <a:ext cx="486000" cy="201600"/>
          </a:xfrm>
          <a:prstGeom prst="rect">
            <a:avLst/>
          </a:prstGeom>
          <a:noFill/>
        </p:spPr>
        <p:txBody>
          <a:bodyPr wrap="none" lIns="10800" rIns="10800" tIns="0" bIns="0" anchor="ctr">
            <a:spAutoFit/>
          </a:bodyPr>
          <a:lstStyle/>
          <a:p>
            <a:pPr algn="r"/>
            <ns157:m xmlns:ns157="http://schemas.microsoft.com/office/drawing/2010/main">
              <ns158:oMath xmlns:ns158="http://schemas.openxmlformats.org/officeDocument/2006/math">
                <ns158:r>
                  <ns158:rPr>
                    <ns158:nor/>
                  </ns158:rPr>
                  <a:rPr>
                    <a:latin typeface="Times New Roman"/>
                    <a:ea typeface="MS Mincho"/>
                  </a:rPr>
                  <ns158:t>2 </ns158:t>
                </ns158:r>
                <ns158:r>
                  <ns158:rPr/>
                  <a:rPr>
                    <a:latin typeface="Times New Roman"/>
                    <a:ea typeface="MS Mincho"/>
                  </a:rPr>
                  <ns158:t>m</ns158:t>
                </ns158:r>
              </ns158:oMath>
            </ns157:m>
          </a:p>
        </p:txBody>
      </p:sp>
      <p:cxnSp>
        <p:nvCxnSpPr>
          <p:cNvPr id="53" name="Connector 52"/>
          <p:cNvCxnSpPr/>
          <p:nvPr/>
        </p:nvCxnSpPr>
        <p:spPr>
          <a:xfrm>
            <a:off x="1098000" y="4194000"/>
            <a:ext cx="90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58000" y="4093200"/>
            <a:ext cx="486000" cy="201600"/>
          </a:xfrm>
          <a:prstGeom prst="rect">
            <a:avLst/>
          </a:prstGeom>
          <a:noFill/>
        </p:spPr>
        <p:txBody>
          <a:bodyPr wrap="none" lIns="10800" rIns="10800" tIns="0" bIns="0" anchor="ctr">
            <a:spAutoFit/>
          </a:bodyPr>
          <a:lstStyle/>
          <a:p>
            <a:pPr algn="r"/>
            <ns163:m xmlns:ns163="http://schemas.microsoft.com/office/drawing/2010/main">
              <ns164:oMath xmlns:ns164="http://schemas.openxmlformats.org/officeDocument/2006/math">
                <ns164:r>
                  <ns164:rPr>
                    <ns164:nor/>
                  </ns164:rPr>
                  <a:rPr>
                    <a:latin typeface="Times New Roman"/>
                    <a:ea typeface="MS Mincho"/>
                  </a:rPr>
                  <ns164:t>3 </ns164:t>
                </ns164:r>
                <ns164:r>
                  <ns164:rPr/>
                  <a:rPr>
                    <a:latin typeface="Times New Roman"/>
                    <a:ea typeface="MS Mincho"/>
                  </a:rPr>
                  <ns164:t>m</ns164:t>
                </ns164:r>
              </ns164:oMath>
            </ns163:m>
          </a:p>
        </p:txBody>
      </p:sp>
      <p:cxnSp>
        <p:nvCxnSpPr>
          <p:cNvPr id="55" name="Connector 54"/>
          <p:cNvCxnSpPr/>
          <p:nvPr/>
        </p:nvCxnSpPr>
        <p:spPr>
          <a:xfrm flipV="1">
            <a:off x="2232000" y="4455000"/>
            <a:ext cx="0" cy="13050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1980001" y="4347000"/>
            <a:ext cx="503999" cy="2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56000" y="3969000"/>
            <a:ext cx="1260000" cy="198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RSU アンテナ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56000" y="4149000"/>
            <a:ext cx="1260000" cy="180000"/>
          </a:xfrm>
          <a:prstGeom prst="rect">
            <a:avLst/>
          </a:prstGeom>
          <a:noFill/>
        </p:spPr>
        <p:txBody>
          <a:bodyPr wrap="none" lIns="10800" rIns="10800" tIns="0" bIns="0" anchor="ctr">
            <a:spAutoFit/>
          </a:bodyPr>
          <a:lstStyle/>
          <a:p>
            <a:pPr algn="ctr"/>
            <ns175:m xmlns:ns175="http://schemas.microsoft.com/office/drawing/2010/main">
              <ns176:oMath xmlns:ns176="http://schemas.openxmlformats.org/officeDocument/2006/math">
                <ns176:r>
                  <ns176:rPr>
                    <ns176:nor/>
                  </ns176:rPr>
                  <a:rPr>
                    <a:latin typeface="Times New Roman"/>
                    <a:ea typeface="MS Mincho"/>
                  </a:rPr>
                  <ns176:t>2.5 </ns176:t>
                </ns176:r>
                <ns176:r>
                  <ns176:rPr/>
                  <a:rPr>
                    <a:latin typeface="Times New Roman"/>
                    <a:ea typeface="MS Mincho"/>
                  </a:rPr>
                  <ns176:t>m</ns176:t>
                </ns176:r>
              </ns176:oMath>
            </ns175:m>
          </a:p>
        </p:txBody>
      </p:sp>
      <p:sp>
        <p:nvSpPr>
          <p:cNvPr id="59" name="Rectangle 58"/>
          <p:cNvSpPr/>
          <p:nvPr/>
        </p:nvSpPr>
        <p:spPr>
          <a:xfrm>
            <a:off x="4224600" y="4977000"/>
            <a:ext cx="972000" cy="78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24600" y="5031000"/>
            <a:ext cx="972000" cy="180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乗用車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24600" y="5200200"/>
            <a:ext cx="972000" cy="162000"/>
          </a:xfrm>
          <a:prstGeom prst="rect">
            <a:avLst/>
          </a:prstGeom>
          <a:noFill/>
        </p:spPr>
        <p:txBody>
          <a:bodyPr wrap="none" lIns="10800" rIns="10800" tIns="0" bIns="0" anchor="ctr">
            <a:spAutoFit/>
          </a:bodyPr>
          <a:lstStyle/>
          <a:p>
            <a:pPr algn="ctr"/>
            <ns187:m xmlns:ns187="http://schemas.microsoft.com/office/drawing/2010/main">
              <ns188:oMath xmlns:ns188="http://schemas.openxmlformats.org/officeDocument/2006/math">
                <ns188:r>
                  <ns188:rPr>
                    <ns188:nor/>
                  </ns188:rPr>
                  <a:rPr>
                    <a:latin typeface="Times New Roman"/>
                    <a:ea typeface="MS Mincho"/>
                  </a:rPr>
                  <ns188:t>1.5 </ns188:t>
                </ns188:r>
                <ns188:r>
                  <ns188:rPr/>
                  <a:rPr>
                    <a:latin typeface="Times New Roman"/>
                    <a:ea typeface="MS Mincho"/>
                  </a:rPr>
                  <ns188:t>m</ns188:t>
                </ns188:r>
              </ns188:oMath>
            </ns187:m>
          </a:p>
        </p:txBody>
      </p:sp>
      <p:sp>
        <p:nvSpPr>
          <p:cNvPr id="62" name="Rectangle 61"/>
          <p:cNvSpPr/>
          <p:nvPr/>
        </p:nvSpPr>
        <p:spPr>
          <a:xfrm>
            <a:off x="6265800" y="4977000"/>
            <a:ext cx="972000" cy="78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63" name="Oval 62"/>
          <p:cNvSpPr/>
          <p:nvPr/>
        </p:nvSpPr>
        <p:spPr>
          <a:xfrm>
            <a:off x="6672600" y="4976100"/>
            <a:ext cx="158400" cy="1584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35800" y="4569300"/>
            <a:ext cx="2015999" cy="198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車載アンテナ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5800" y="4749300"/>
            <a:ext cx="2015999" cy="180000"/>
          </a:xfrm>
          <a:prstGeom prst="rect">
            <a:avLst/>
          </a:prstGeom>
          <a:noFill/>
        </p:spPr>
        <p:txBody>
          <a:bodyPr wrap="none" lIns="10800" rIns="10800" tIns="0" bIns="0" anchor="ctr">
            <a:spAutoFit/>
          </a:bodyPr>
          <a:lstStyle/>
          <a:p>
            <a:pPr algn="l"/>
            <ns202:m xmlns:ns202="http://schemas.microsoft.com/office/drawing/2010/main">
              <ns203:oMath xmlns:ns203="http://schemas.openxmlformats.org/officeDocument/2006/math">
                <ns203:r>
                  <ns203:rPr>
                    <ns203:nor/>
                  </ns203:rPr>
                  <a:rPr>
                    <a:latin typeface="Times New Roman"/>
                    <a:ea typeface="MS Mincho"/>
                  </a:rPr>
                  <ns203:t>1.35 </ns203:t>
                </ns203:r>
                <ns203:r>
                  <ns203:rPr/>
                  <a:rPr>
                    <a:latin typeface="Times New Roman"/>
                    <a:ea typeface="MS Mincho"/>
                  </a:rPr>
                  <ns203:t>m</ns203:t>
                </ns203:r>
              </ns203:oMath>
            </ns202:m>
          </a:p>
        </p:txBody>
      </p:sp>
      <p:cxnSp>
        <p:nvCxnSpPr>
          <p:cNvPr id="66" name="Connector 65"/>
          <p:cNvCxnSpPr/>
          <p:nvPr/>
        </p:nvCxnSpPr>
        <p:spPr>
          <a:xfrm flipH="1" flipV="1">
            <a:off x="2232000" y="4455000"/>
            <a:ext cx="4519800" cy="60030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710600" y="4783860"/>
            <a:ext cx="0" cy="976140"/>
          </a:xfrm>
          <a:prstGeom prst="line">
            <a:avLst/>
          </a:prstGeom>
          <a:ln w="12700">
            <a:solidFill>
              <a:srgbClr val="8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4620600" y="4693860"/>
            <a:ext cx="180000" cy="1800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66600" y="3937860"/>
            <a:ext cx="2088000" cy="198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見通し線が手前車線を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66600" y="4117860"/>
            <a:ext cx="2088000" cy="198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横切る高さ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66600" y="4308660"/>
            <a:ext cx="2088000" cy="180000"/>
          </a:xfrm>
          <a:prstGeom prst="rect">
            <a:avLst/>
          </a:prstGeom>
          <a:noFill/>
        </p:spPr>
        <p:txBody>
          <a:bodyPr wrap="none" lIns="10800" rIns="10800" tIns="0" bIns="0" anchor="ctr">
            <a:spAutoFit/>
          </a:bodyPr>
          <a:lstStyle/>
          <a:p>
            <a:pPr algn="ctr"/>
            <ns217:m xmlns:ns217="http://schemas.microsoft.com/office/drawing/2010/main">
              <ns218:oMath xmlns:ns218="http://schemas.openxmlformats.org/officeDocument/2006/math">
                <ns218:r>
                  <ns218:rPr>
                    <ns218:nor/>
                  </ns218:rPr>
                  <a:rPr>
                    <a:latin typeface="Times New Roman"/>
                    <a:ea typeface="MS Mincho"/>
                  </a:rPr>
                  <ns218:t>1.87 </ns218:t>
                </ns218:r>
                <ns218:r>
                  <ns218:rPr/>
                  <a:rPr>
                    <a:latin typeface="Times New Roman"/>
                    <a:ea typeface="MS Mincho"/>
                  </a:rPr>
                  <ns218:t>m</ns218:t>
                </ns218:r>
              </ns218:oMath>
            </ns217:m>
          </a:p>
        </p:txBody>
      </p:sp>
      <p:sp>
        <p:nvSpPr>
          <p:cNvPr id="72" name="TextBox 71"/>
          <p:cNvSpPr txBox="1"/>
          <p:nvPr/>
        </p:nvSpPr>
        <p:spPr>
          <a:xfrm>
            <a:off x="8352000" y="3096000"/>
            <a:ext cx="3456000" cy="216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遮蔽するかどうかは車高で決まる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52000" y="4977000"/>
            <a:ext cx="540000" cy="78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08000" y="5814000"/>
            <a:ext cx="827999" cy="180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乗用車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08000" y="5983200"/>
            <a:ext cx="827999" cy="162000"/>
          </a:xfrm>
          <a:prstGeom prst="rect">
            <a:avLst/>
          </a:prstGeom>
          <a:noFill/>
        </p:spPr>
        <p:txBody>
          <a:bodyPr wrap="none" lIns="10800" rIns="10800" tIns="0" bIns="0" anchor="ctr">
            <a:spAutoFit/>
          </a:bodyPr>
          <a:lstStyle/>
          <a:p>
            <a:pPr algn="ctr"/>
            <ns232:m xmlns:ns232="http://schemas.microsoft.com/office/drawing/2010/main">
              <ns233:oMath xmlns:ns233="http://schemas.openxmlformats.org/officeDocument/2006/math">
                <ns233:r>
                  <ns233:rPr>
                    <ns233:nor/>
                  </ns233:rPr>
                  <a:rPr>
                    <a:latin typeface="Times New Roman"/>
                    <a:ea typeface="MS Mincho"/>
                  </a:rPr>
                  <ns233:t>1.5 </ns233:t>
                </ns233:r>
                <ns233:r>
                  <ns233:rPr/>
                  <a:rPr>
                    <a:latin typeface="Times New Roman"/>
                    <a:ea typeface="MS Mincho"/>
                  </a:rPr>
                  <ns233:t>m</ns233:t>
                </ns233:r>
              </ns233:oMath>
            </ns232:m>
          </a:p>
        </p:txBody>
      </p:sp>
      <p:sp>
        <p:nvSpPr>
          <p:cNvPr id="76" name="Rectangle 75"/>
          <p:cNvSpPr/>
          <p:nvPr/>
        </p:nvSpPr>
        <p:spPr>
          <a:xfrm>
            <a:off x="9198000" y="4768200"/>
            <a:ext cx="540000" cy="9918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4000" y="5814000"/>
            <a:ext cx="827999" cy="180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ミニバン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4000" y="5983200"/>
            <a:ext cx="827999" cy="162000"/>
          </a:xfrm>
          <a:prstGeom prst="rect">
            <a:avLst/>
          </a:prstGeom>
          <a:noFill/>
        </p:spPr>
        <p:txBody>
          <a:bodyPr wrap="none" lIns="10800" rIns="10800" tIns="0" bIns="0" anchor="ctr">
            <a:spAutoFit/>
          </a:bodyPr>
          <a:lstStyle/>
          <a:p>
            <a:pPr algn="ctr"/>
            <ns244:m xmlns:ns244="http://schemas.microsoft.com/office/drawing/2010/main">
              <ns245:oMath xmlns:ns245="http://schemas.openxmlformats.org/officeDocument/2006/math">
                <ns245:r>
                  <ns245:rPr>
                    <ns245:nor/>
                  </ns245:rPr>
                  <a:rPr>
                    <a:latin typeface="Times New Roman"/>
                    <a:ea typeface="MS Mincho"/>
                  </a:rPr>
                  <ns245:t>1.9 </ns245:t>
                </ns245:r>
                <ns245:r>
                  <ns245:rPr/>
                  <a:rPr>
                    <a:latin typeface="Times New Roman"/>
                    <a:ea typeface="MS Mincho"/>
                  </a:rPr>
                  <ns245:t>m</ns245:t>
                </ns245:r>
              </ns245:oMath>
            </ns244:m>
          </a:p>
        </p:txBody>
      </p:sp>
      <p:sp>
        <p:nvSpPr>
          <p:cNvPr id="79" name="Rectangle 78"/>
          <p:cNvSpPr/>
          <p:nvPr/>
        </p:nvSpPr>
        <p:spPr>
          <a:xfrm>
            <a:off x="10044000" y="4089600"/>
            <a:ext cx="540000" cy="16704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00000" y="5814000"/>
            <a:ext cx="827999" cy="180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バス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00000" y="5983200"/>
            <a:ext cx="827999" cy="162000"/>
          </a:xfrm>
          <a:prstGeom prst="rect">
            <a:avLst/>
          </a:prstGeom>
          <a:noFill/>
        </p:spPr>
        <p:txBody>
          <a:bodyPr wrap="none" lIns="10800" rIns="10800" tIns="0" bIns="0" anchor="ctr">
            <a:spAutoFit/>
          </a:bodyPr>
          <a:lstStyle/>
          <a:p>
            <a:pPr algn="ctr"/>
            <ns256:m xmlns:ns256="http://schemas.microsoft.com/office/drawing/2010/main">
              <ns257:oMath xmlns:ns257="http://schemas.openxmlformats.org/officeDocument/2006/math">
                <ns257:r>
                  <ns257:rPr>
                    <ns257:nor/>
                  </ns257:rPr>
                  <a:rPr>
                    <a:latin typeface="Times New Roman"/>
                    <a:ea typeface="MS Mincho"/>
                  </a:rPr>
                  <ns257:t>3.2 </ns257:t>
                </ns257:r>
                <ns257:r>
                  <ns257:rPr/>
                  <a:rPr>
                    <a:latin typeface="Times New Roman"/>
                    <a:ea typeface="MS Mincho"/>
                  </a:rPr>
                  <ns257:t>m</ns257:t>
                </ns257:r>
              </ns257:oMath>
            </ns256:m>
          </a:p>
        </p:txBody>
      </p:sp>
      <p:sp>
        <p:nvSpPr>
          <p:cNvPr id="82" name="Rectangle 81"/>
          <p:cNvSpPr/>
          <p:nvPr/>
        </p:nvSpPr>
        <p:spPr>
          <a:xfrm>
            <a:off x="10890000" y="3776400"/>
            <a:ext cx="540000" cy="19836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/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46000" y="5814000"/>
            <a:ext cx="827999" cy="180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トラック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46000" y="5983200"/>
            <a:ext cx="827999" cy="162000"/>
          </a:xfrm>
          <a:prstGeom prst="rect">
            <a:avLst/>
          </a:prstGeom>
          <a:noFill/>
        </p:spPr>
        <p:txBody>
          <a:bodyPr wrap="none" lIns="10800" rIns="10800" tIns="0" bIns="0" anchor="ctr">
            <a:spAutoFit/>
          </a:bodyPr>
          <a:lstStyle/>
          <a:p>
            <a:pPr algn="ctr"/>
            <ns268:m xmlns:ns268="http://schemas.microsoft.com/office/drawing/2010/main">
              <ns269:oMath xmlns:ns269="http://schemas.openxmlformats.org/officeDocument/2006/math">
                <ns269:r>
                  <ns269:rPr>
                    <ns269:nor/>
                  </ns269:rPr>
                  <a:rPr>
                    <a:latin typeface="Times New Roman"/>
                    <a:ea typeface="MS Mincho"/>
                  </a:rPr>
                  <ns269:t>3.8 </ns269:t>
                </ns269:r>
                <ns269:r>
                  <ns269:rPr/>
                  <a:rPr>
                    <a:latin typeface="Times New Roman"/>
                    <a:ea typeface="MS Mincho"/>
                  </a:rPr>
                  <ns269:t>m</ns269:t>
                </ns269:r>
              </ns269:oMath>
            </ns268:m>
          </a:p>
        </p:txBody>
      </p:sp>
      <p:cxnSp>
        <p:nvCxnSpPr>
          <p:cNvPr id="85" name="Connector 84"/>
          <p:cNvCxnSpPr/>
          <p:nvPr/>
        </p:nvCxnSpPr>
        <p:spPr>
          <a:xfrm>
            <a:off x="8172000" y="4783860"/>
            <a:ext cx="342000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0620000" y="4585860"/>
            <a:ext cx="972000" cy="180000"/>
          </a:xfrm>
          <a:prstGeom prst="rect">
            <a:avLst/>
          </a:prstGeom>
          <a:noFill/>
        </p:spPr>
        <p:txBody>
          <a:bodyPr wrap="none" lIns="10800" rIns="10800" tIns="0" bIns="0" anchor="ctr">
            <a:spAutoFit/>
          </a:bodyPr>
          <a:lstStyle/>
          <a:p>
            <a:pPr algn="r"/>
            <ns274:m xmlns:ns274="http://schemas.microsoft.com/office/drawing/2010/main">
              <ns275:oMath xmlns:ns275="http://schemas.openxmlformats.org/officeDocument/2006/math">
                <ns275:r>
                  <ns275:rPr>
                    <ns275:nor/>
                  </ns275:rPr>
                  <a:rPr>
                    <a:latin typeface="Times New Roman"/>
                    <a:ea typeface="MS Mincho"/>
                  </a:rPr>
                  <ns275:t>1.87 </ns275:t>
                </ns275:r>
                <ns275:r>
                  <ns275:rPr/>
                  <a:rPr>
                    <a:latin typeface="Times New Roman"/>
                    <a:ea typeface="MS Mincho"/>
                  </a:rPr>
                  <ns275:t>m</ns275:t>
                </ns275:r>
              </ns275:oMath>
            </ns274:m>
          </a:p>
        </p:txBody>
      </p:sp>
      <p:sp>
        <p:nvSpPr>
          <p:cNvPr id="87" name="TextBox 86"/>
          <p:cNvSpPr txBox="1"/>
          <p:nvPr/>
        </p:nvSpPr>
        <p:spPr>
          <a:xfrm>
            <a:off x="8172000" y="4405860"/>
            <a:ext cx="3420000" cy="180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/>
            <a:r>
              <a:rPr sz="95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この線を超える車高が遮蔽する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7776000" y="3384000"/>
            <a:ext cx="0" cy="259200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288000" y="6408000"/>
            <a:ext cx="11520000" cy="324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/>
            <a:r>
              <a:rPr sz="950" b="0">
                <a:solidFill>
                  <a:srgbClr val="808080"/>
                </a:solidFill>
                <a:latin typeface="Times New Roman"/>
                <a:ea typeface="MS Mincho"/>
                <a:cs typeface="MS Mincho"/>
              </a:rPr>
              <a:t>断面図は奥車線の車両から RSU への見通しを示す。手前車線を横切る高さは 1.87 m で、乗用車（1.5 m）では届かない。本評価では走行車両を遮蔽体として扱わず、電波をさえぎるのは位置の固定された路上駐車 2 台のみである。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80000"/>
            <a:ext cx="11520000" cy="360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図C　評価の手続き：1 回記録し、手法だけを差し替えて事後再計算する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2000" y="1152000"/>
            <a:ext cx="2736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Gazebo で走行を実行</a:t>
            </a:r>
          </a:p>
          <a:p>
            <a:pPr algn="ctr"/>
            <a:r>
              <a:rPr sz="1150" b="1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（50 走行・手法に依存しない）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168000" y="1512000"/>
            <a:ext cx="5760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744000" y="1152000"/>
            <a:ext cx="3024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記録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・軌跡 poses.csv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・全ペアの受信電力 pairs/*.csv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68000" y="1512000"/>
            <a:ext cx="575999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43999" y="1152000"/>
            <a:ext cx="2808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欠落検査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verify_recording.py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4000" y="2232000"/>
            <a:ext cx="3024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評価窓を揃える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走り出しから 35 秒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56000" y="1872000"/>
            <a:ext cx="0" cy="360000"/>
          </a:xfrm>
          <a:prstGeom prst="line">
            <a:avLst/>
          </a:prstGeom>
          <a:ln w="12700">
            <a:solidFill>
              <a:srgbClr val="0000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2000" y="3240000"/>
            <a:ext cx="2015999" cy="8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05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受動接続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assoc_hold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39999" y="2772000"/>
            <a:ext cx="0" cy="468000"/>
          </a:xfrm>
          <a:prstGeom prst="line">
            <a:avLst/>
          </a:prstGeom>
          <a:ln w="12700">
            <a:solidFill>
              <a:srgbClr val="808080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81999" y="3240000"/>
            <a:ext cx="2015999" cy="8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05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提案手法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rem_conv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89998" y="2772000"/>
            <a:ext cx="0" cy="468000"/>
          </a:xfrm>
          <a:prstGeom prst="line">
            <a:avLst/>
          </a:prstGeom>
          <a:ln w="12700">
            <a:solidFill>
              <a:srgbClr val="808080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31998" y="3240000"/>
            <a:ext cx="2015999" cy="8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05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地図なし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rem_cold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39997" y="2772000"/>
            <a:ext cx="0" cy="468000"/>
          </a:xfrm>
          <a:prstGeom prst="line">
            <a:avLst/>
          </a:prstGeom>
          <a:ln w="12700">
            <a:solidFill>
              <a:srgbClr val="808080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81997" y="3240000"/>
            <a:ext cx="2015999" cy="8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05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機構を1つ外す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rem_nolcb / novar /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nokrig / frozen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89996" y="2772000"/>
            <a:ext cx="0" cy="468000"/>
          </a:xfrm>
          <a:prstGeom prst="line">
            <a:avLst/>
          </a:prstGeom>
          <a:ln w="12700">
            <a:solidFill>
              <a:srgbClr val="808080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31996" y="3240000"/>
            <a:ext cx="2015999" cy="8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05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理想反応型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oracle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439995" y="2772000"/>
            <a:ext cx="0" cy="468000"/>
          </a:xfrm>
          <a:prstGeom prst="line">
            <a:avLst/>
          </a:prstGeom>
          <a:ln w="12700">
            <a:solidFill>
              <a:srgbClr val="808080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440000" y="2772000"/>
            <a:ext cx="3816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56000" y="2772000"/>
            <a:ext cx="5184000" cy="0"/>
          </a:xfrm>
          <a:prstGeom prst="line">
            <a:avLst/>
          </a:prstGeom>
          <a:ln w="127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2000" y="4176000"/>
            <a:ext cx="11304000" cy="251999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/>
            <a:r>
              <a:rPr sz="1150" b="1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同一の記録＝同一の交通・同一のチャネル実現の上で、通信とスケジューリングだけを再計算する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3999" y="4464000"/>
            <a:ext cx="0" cy="360000"/>
          </a:xfrm>
          <a:prstGeom prst="line">
            <a:avLst/>
          </a:prstGeom>
          <a:ln w="19050">
            <a:solidFill>
              <a:srgbClr val="0000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384000" y="4824000"/>
            <a:ext cx="5400000" cy="6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200" b="1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走行ごとに対にして比較（対差・Wilcoxon 符号順位検定）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5616000"/>
            <a:ext cx="5256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Gazebo は不要。手法を増やしても再記録は要らない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36000" y="5616000"/>
            <a:ext cx="5256000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  <a:ea typeface="MS Mincho"/>
                <a:cs typeface="MS Mincho"/>
              </a:rPr>
              <a:t>再計算は決定論的で、走行ごとの交通の当たり外れが打ち消される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00" y="6408000"/>
            <a:ext cx="11520000" cy="32400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/>
            <a:r>
              <a:rPr sz="950" b="0">
                <a:solidFill>
                  <a:srgbClr val="808080"/>
                </a:solidFill>
                <a:latin typeface="Times New Roman"/>
                <a:ea typeface="MS Mincho"/>
                <a:cs typeface="MS Mincho"/>
              </a:rPr>
              <a:t>通信計算は車両の運動に影響しないため、軌跡と全ペアの受信電力を一度記録すれば、手法・設定を変えた評価は単一プロセスで再現できる。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