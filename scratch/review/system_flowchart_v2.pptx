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577840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28346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Learning Phase（学習相）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55778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320" y="228600"/>
            <a:ext cx="597103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283464"/>
            <a:ext cx="5971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Operation Phase（運用相）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731520"/>
            <a:ext cx="597103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914400"/>
            <a:ext cx="2286000" cy="594360"/>
          </a:xfrm>
          <a:prstGeom prst="roundRect">
            <a:avLst>
              <a:gd name="adj" fmla="val 7692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914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走行軌跡・車両位置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286000" cy="594360"/>
          </a:xfrm>
          <a:prstGeom prst="roundRect">
            <a:avLst>
              <a:gd name="adj" fmla="val 7692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46120" y="914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受信電力レポート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（20 Hz）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196596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1965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地図の鍵の決定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（RSU × 走行方向 × 車載アンテナ）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150876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50876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1737360"/>
            <a:ext cx="25603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173736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5800" y="301752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基底行列 Φ の構成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（RBF 40 個）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612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残差 ν の算出</a:t>
            </a:r>
            <a:endParaRPr lang="en-US" sz="1400" dirty="0"/>
          </a:p>
          <a:p>
            <a:pPr algn="ctr" indent="0" marL="0">
              <a:buNone/>
            </a:pPr>
            <a14:m xmlns:a14="http://schemas.microsoft.com/office/drawing/2010/main">
              <m:oMath xmlns:m="http://schemas.openxmlformats.org/officeDocument/2006/math"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ν</m:t>
                </m:r>
                <m:r>
                  <m:rPr>
                    <m:nor/>
                  </m:rPr>
                  <a:rPr xmlns:a="http://schemas.openxmlformats.org/drawingml/2006/main">
                    <a:latin typeface="Times New Roman"/>
                    <a:ea typeface="MS Mincho"/>
                  </a:rPr>
                  <m:t> = 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Z</m:t>
                </m:r>
                <m:r>
                  <m:rPr>
                    <m:nor/>
                  </m:rPr>
                  <a:rPr xmlns:a="http://schemas.openxmlformats.org/drawingml/2006/main">
                    <a:latin typeface="Times New Roman"/>
                    <a:ea typeface="MS Mincho"/>
                  </a:rPr>
                  <m:t> − 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Φ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α</m:t>
                </m:r>
              </m:oMath>
            </a14:m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017520" y="2606040"/>
            <a:ext cx="0" cy="1828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2788920"/>
            <a:ext cx="25603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278892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389120" y="278892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5800" y="406908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係数 </a:t>
            </a:r>
            <a14:m xmlns:a14="http://schemas.microsoft.com/office/drawing/2010/main">
              <m:oMath xmlns:m="http://schemas.openxmlformats.org/officeDocument/2006/math"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α</m:t>
                </m:r>
              </m:oMath>
            </a14:m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 の逐次更新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（ベイズ線形回帰）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46120" y="406908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4612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遮蔽リスク地図</a:t>
            </a:r>
            <a:endParaRPr lang="en-US" sz="1400" dirty="0"/>
          </a:p>
          <a:p>
            <a:pPr algn="ctr" indent="0" marL="0">
              <a:buNone/>
            </a:pPr>
            <a14:m xmlns:a14="http://schemas.microsoft.com/office/drawing/2010/main">
              <m:oMath xmlns:m="http://schemas.openxmlformats.org/officeDocument/2006/math">
                <m:sSubSup>
                  <m:sSubSupPr>
                    <m:ctrlPr/>
                  </m:sSubSupPr>
                  <m:e>
                    <m:r>
                      <m:rPr/>
                      <a:rPr xmlns:a="http://schemas.openxmlformats.org/drawingml/2006/main">
                        <a:latin typeface="Times New Roman"/>
                        <a:ea typeface="MS Mincho"/>
                      </a:rPr>
                      <m:t>σ</m:t>
                    </m:r>
                  </m:e>
                  <m:sub>
                    <m:r>
                      <m:rPr/>
                      <a:rPr xmlns:a="http://schemas.openxmlformats.org/drawingml/2006/main">
                        <a:latin typeface="Times New Roman"/>
                        <a:ea typeface="MS Mincho"/>
                      </a:rPr>
                      <m:t>ν</m:t>
                    </m:r>
                  </m:sub>
                  <m:sup>
                    <m:r>
                      <m:rPr>
                        <m:nor/>
                      </m:rPr>
                      <a:rPr xmlns:a="http://schemas.openxmlformats.org/drawingml/2006/main">
                        <a:latin typeface="Times New Roman"/>
                        <a:ea typeface="MS Mincho"/>
                      </a:rPr>
                      <m:t>2</m:t>
                    </m:r>
                  </m:sup>
                </m:sSubSup>
                <m:r>
                  <m:rPr>
                    <m:nor/>
                  </m:rPr>
                  <a:rPr xmlns:a="http://schemas.openxmlformats.org/drawingml/2006/main">
                    <a:latin typeface="Times New Roman"/>
                    <a:ea typeface="MS Mincho"/>
                  </a:rPr>
                  <m:t>(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s</m:t>
                </m:r>
                <m:r>
                  <m:rPr>
                    <m:nor/>
                  </m:rPr>
                  <a:rPr xmlns:a="http://schemas.openxmlformats.org/drawingml/2006/main">
                    <a:latin typeface="Times New Roman"/>
                    <a:ea typeface="MS Mincho"/>
                  </a:rPr>
                  <m:t>)</m:t>
                </m:r>
              </m:oMath>
            </a14:m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 の更新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828800" y="3657600"/>
            <a:ext cx="0" cy="4114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389120" y="3657600"/>
            <a:ext cx="0" cy="41148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51560" y="5138928"/>
            <a:ext cx="3931920" cy="566928"/>
          </a:xfrm>
          <a:prstGeom prst="flowChartMagneticDisk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1560" y="51389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電波地図 32 枚（</a:t>
            </a:r>
            <a14:m xmlns:a14="http://schemas.microsoft.com/office/drawing/2010/main">
              <m:oMath xmlns:m="http://schemas.openxmlformats.org/officeDocument/2006/math"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α</m:t>
                </m:r>
                <m:r>
                  <m:rPr>
                    <m:nor/>
                  </m:rPr>
                  <a:rPr xmlns:a="http://schemas.openxmlformats.org/drawingml/2006/main">
                    <a:latin typeface="Times New Roman"/>
                    <a:ea typeface="MS Mincho"/>
                  </a:rPr>
                  <m:t>, 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P</m:t>
                </m:r>
                <m:r>
                  <m:rPr>
                    <m:nor/>
                  </m:rPr>
                  <a:rPr xmlns:a="http://schemas.openxmlformats.org/drawingml/2006/main">
                    <a:latin typeface="Times New Roman"/>
                    <a:ea typeface="MS Mincho"/>
                  </a:rPr>
                  <m:t>, </m:t>
                </m:r>
              </m:oMath>
            </a14:m>
            <a14:m xmlns:a14="http://schemas.microsoft.com/office/drawing/2010/main">
              <m:oMath xmlns:m="http://schemas.openxmlformats.org/officeDocument/2006/math">
                <m:sSubSup>
                  <m:sSubSupPr>
                    <m:ctrlPr/>
                  </m:sSubSupPr>
                  <m:e>
                    <m:r>
                      <m:rPr/>
                      <a:rPr xmlns:a="http://schemas.openxmlformats.org/drawingml/2006/main">
                        <a:latin typeface="Times New Roman"/>
                        <a:ea typeface="MS Mincho"/>
                      </a:rPr>
                      <m:t>σ</m:t>
                    </m:r>
                  </m:e>
                  <m:sub>
                    <m:r>
                      <m:rPr/>
                      <a:rPr xmlns:a="http://schemas.openxmlformats.org/drawingml/2006/main">
                        <a:latin typeface="Times New Roman"/>
                        <a:ea typeface="MS Mincho"/>
                      </a:rPr>
                      <m:t>ν</m:t>
                    </m:r>
                  </m:sub>
                  <m:sup>
                    <m:r>
                      <m:rPr>
                        <m:nor/>
                      </m:rPr>
                      <a:rPr xmlns:a="http://schemas.openxmlformats.org/drawingml/2006/main">
                        <a:latin typeface="Times New Roman"/>
                        <a:ea typeface="MS Mincho"/>
                      </a:rPr>
                      <m:t>2</m:t>
                    </m:r>
                  </m:sup>
                </m:sSubSup>
              </m:oMath>
            </a14:m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）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828800" y="4709160"/>
            <a:ext cx="0" cy="2103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4709160"/>
            <a:ext cx="0" cy="21031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0" y="4919472"/>
            <a:ext cx="25603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4919472"/>
            <a:ext cx="0" cy="219456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02920" y="5422392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2286000"/>
            <a:ext cx="0" cy="31363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502920" y="2286000"/>
            <a:ext cx="5486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292608" y="57972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30 走行反復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86600" y="868680"/>
            <a:ext cx="3108960" cy="594360"/>
          </a:xfrm>
          <a:prstGeom prst="roundRect">
            <a:avLst>
              <a:gd name="adj" fmla="val 7692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086600" y="868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各車両アンテナの現在位置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720840" y="1627632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20840" y="1627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予測（空間基底 + 残差クリギング）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予測値 </a:t>
            </a:r>
            <a14:m xmlns:a14="http://schemas.microsoft.com/office/drawing/2010/main">
              <m:oMath xmlns:m="http://schemas.openxmlformats.org/officeDocument/2006/math"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μ</m:t>
                </m:r>
              </m:oMath>
            </a14:m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 と不確かさ </a:t>
            </a:r>
            <a14:m xmlns:a14="http://schemas.microsoft.com/office/drawing/2010/main">
              <m:oMath xmlns:m="http://schemas.openxmlformats.org/officeDocument/2006/math"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σ</m:t>
                </m:r>
              </m:oMath>
            </a14:m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641080" y="1463040"/>
            <a:ext cx="0" cy="16459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720840" y="2560320"/>
            <a:ext cx="3840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20840" y="2560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慎重な評価</a:t>
            </a:r>
            <a:endParaRPr lang="en-US" sz="1400" dirty="0"/>
          </a:p>
          <a:p>
            <a:pPr algn="ctr" indent="0" marL="0">
              <a:buNone/>
            </a:pPr>
            <a14:m xmlns:a14="http://schemas.microsoft.com/office/drawing/2010/main">
              <m:oMath xmlns:m="http://schemas.openxmlformats.org/officeDocument/2006/math"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L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C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B</m:t>
                </m:r>
                <m:r>
                  <m:rPr>
                    <m:nor/>
                  </m:rPr>
                  <a:rPr xmlns:a="http://schemas.openxmlformats.org/drawingml/2006/main">
                    <a:latin typeface="Times New Roman"/>
                    <a:ea typeface="MS Mincho"/>
                  </a:rPr>
                  <m:t> = 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μ</m:t>
                </m:r>
                <m:r>
                  <m:rPr>
                    <m:nor/>
                  </m:rPr>
                  <a:rPr xmlns:a="http://schemas.openxmlformats.org/drawingml/2006/main">
                    <a:latin typeface="Times New Roman"/>
                    <a:ea typeface="MS Mincho"/>
                  </a:rPr>
                  <m:t> − 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κ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σ</m:t>
                </m:r>
              </m:oMath>
            </a14:m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41080" y="2286000"/>
            <a:ext cx="0" cy="274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360920" y="3493008"/>
            <a:ext cx="2560320" cy="1051560"/>
          </a:xfrm>
          <a:prstGeom prst="flowChartDecision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60920" y="349300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接続可否</a:t>
            </a:r>
            <a:endParaRPr lang="en-US" sz="1400" dirty="0"/>
          </a:p>
          <a:p>
            <a:pPr algn="ctr" indent="0" marL="0">
              <a:buNone/>
            </a:pPr>
            <a14:m xmlns:a14="http://schemas.microsoft.com/office/drawing/2010/main">
              <m:oMath xmlns:m="http://schemas.openxmlformats.org/officeDocument/2006/math"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μ</m:t>
                </m:r>
                <m:r>
                  <m:rPr>
                    <m:nor/>
                  </m:rPr>
                  <a:rPr xmlns:a="http://schemas.openxmlformats.org/drawingml/2006/main">
                    <a:latin typeface="Times New Roman"/>
                    <a:ea typeface="MS Mincho"/>
                  </a:rPr>
                  <m:t> ≥ −68.5 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d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B</m:t>
                </m:r>
                <m:r>
                  <m:rPr/>
                  <a:rPr xmlns:a="http://schemas.openxmlformats.org/drawingml/2006/main">
                    <a:latin typeface="Times New Roman"/>
                    <a:ea typeface="MS Mincho"/>
                  </a:rPr>
                  <m:t>m</m:t>
                </m:r>
              </m:oMath>
            </a14:m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41080" y="3218688"/>
            <a:ext cx="0" cy="274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0287000" y="3785616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287000" y="378561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候補除外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921240" y="4018788"/>
            <a:ext cx="3657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9930384" y="37490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否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537960" y="48006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537960" y="48006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ハンガリアン法で LCB 総和を最大化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（継続 RSU に +3 dB の加点）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641080" y="4544568"/>
            <a:ext cx="0" cy="25603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8705088" y="45720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可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720840" y="5742432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720840" y="574243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割当・切替（ハンドオーバー）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8641080" y="5458968"/>
            <a:ext cx="0" cy="28346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983480" y="5422392"/>
            <a:ext cx="88696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5870448" y="1956816"/>
            <a:ext cx="0" cy="3465576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5870448" y="1956816"/>
            <a:ext cx="85039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561320" y="6039612"/>
            <a:ext cx="12161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11777472" y="1956816"/>
            <a:ext cx="0" cy="4082796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10561320" y="1956816"/>
            <a:ext cx="121615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triangle"/>
          </a:ln>
        </p:spPr>
      </p:sp>
      <p:sp>
        <p:nvSpPr>
          <p:cNvPr id="70" name="Text 68"/>
          <p:cNvSpPr txBox="1"/>
          <p:nvPr/>
        </p:nvSpPr>
        <p:spPr>
          <a:xfrm>
            <a:off x="320040" y="61996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MS Mincho" pitchFamily="34" charset="-122"/>
                <a:cs typeface="MS Mincho" pitchFamily="34" charset="-120"/>
              </a:rPr>
              <a:t>破線：学習済み地図の受け渡しと，割当中ペアの観測の帰還（残差バッファ → クリギング補正／係数の更新）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2026-08-26T08:32:22Z</dcterms:created>
  <dcterms:modified xsi:type="dcterms:W3CDTF">2026-08-26T08:32:22Z</dcterms:modified>
</cp:coreProperties>
</file>